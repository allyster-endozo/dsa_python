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76" r:id="rId3"/>
    <p:sldId id="259" r:id="rId4"/>
    <p:sldId id="267" r:id="rId5"/>
    <p:sldId id="256" r:id="rId6"/>
    <p:sldId id="268" r:id="rId7"/>
    <p:sldId id="257" r:id="rId8"/>
    <p:sldId id="269" r:id="rId9"/>
    <p:sldId id="261" r:id="rId10"/>
    <p:sldId id="270" r:id="rId11"/>
    <p:sldId id="258" r:id="rId12"/>
    <p:sldId id="271" r:id="rId13"/>
    <p:sldId id="260" r:id="rId14"/>
    <p:sldId id="272" r:id="rId15"/>
    <p:sldId id="262" r:id="rId16"/>
    <p:sldId id="273" r:id="rId17"/>
    <p:sldId id="284" r:id="rId18"/>
    <p:sldId id="285" r:id="rId19"/>
    <p:sldId id="283" r:id="rId20"/>
    <p:sldId id="264" r:id="rId21"/>
    <p:sldId id="266" r:id="rId22"/>
    <p:sldId id="265" r:id="rId23"/>
    <p:sldId id="274" r:id="rId24"/>
    <p:sldId id="275" r:id="rId25"/>
    <p:sldId id="277" r:id="rId26"/>
    <p:sldId id="279" r:id="rId27"/>
    <p:sldId id="281" r:id="rId28"/>
    <p:sldId id="278"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0C307-DB83-CCD2-633D-9FB69C8F9E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9836A7C-6F6C-D784-8648-0F203149D0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CBE405C-254E-DD4E-A888-B5B6675EB359}"/>
              </a:ext>
            </a:extLst>
          </p:cNvPr>
          <p:cNvSpPr>
            <a:spLocks noGrp="1"/>
          </p:cNvSpPr>
          <p:nvPr>
            <p:ph type="dt" sz="half" idx="10"/>
          </p:nvPr>
        </p:nvSpPr>
        <p:spPr/>
        <p:txBody>
          <a:bodyPr/>
          <a:lstStyle/>
          <a:p>
            <a:fld id="{995067D5-EC1A-4409-8F8E-A7A83362B671}" type="datetimeFigureOut">
              <a:rPr lang="en-US" smtClean="0"/>
              <a:t>10/29/2026</a:t>
            </a:fld>
            <a:endParaRPr lang="en-US"/>
          </a:p>
        </p:txBody>
      </p:sp>
      <p:sp>
        <p:nvSpPr>
          <p:cNvPr id="5" name="Footer Placeholder 4">
            <a:extLst>
              <a:ext uri="{FF2B5EF4-FFF2-40B4-BE49-F238E27FC236}">
                <a16:creationId xmlns:a16="http://schemas.microsoft.com/office/drawing/2014/main" id="{115E7207-C09F-5932-FB47-BCF238DC6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0027FF-72AD-76BD-A8DB-04720B1FDB33}"/>
              </a:ext>
            </a:extLst>
          </p:cNvPr>
          <p:cNvSpPr>
            <a:spLocks noGrp="1"/>
          </p:cNvSpPr>
          <p:nvPr>
            <p:ph type="sldNum" sz="quarter" idx="12"/>
          </p:nvPr>
        </p:nvSpPr>
        <p:spPr/>
        <p:txBody>
          <a:bodyPr/>
          <a:lstStyle/>
          <a:p>
            <a:fld id="{735DAC2B-37E7-4749-B9A2-2038206044AD}" type="slidenum">
              <a:rPr lang="en-US" smtClean="0"/>
              <a:t>‹#›</a:t>
            </a:fld>
            <a:endParaRPr lang="en-US"/>
          </a:p>
        </p:txBody>
      </p:sp>
    </p:spTree>
    <p:extLst>
      <p:ext uri="{BB962C8B-B14F-4D97-AF65-F5344CB8AC3E}">
        <p14:creationId xmlns:p14="http://schemas.microsoft.com/office/powerpoint/2010/main" val="10904590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0655E-A2C6-349C-07D7-E261BDB980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D355BD-A6F6-B58B-F0CE-DBB9597351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F59909-E061-8B7D-E9D9-BEF5B8124558}"/>
              </a:ext>
            </a:extLst>
          </p:cNvPr>
          <p:cNvSpPr>
            <a:spLocks noGrp="1"/>
          </p:cNvSpPr>
          <p:nvPr>
            <p:ph type="dt" sz="half" idx="10"/>
          </p:nvPr>
        </p:nvSpPr>
        <p:spPr/>
        <p:txBody>
          <a:bodyPr/>
          <a:lstStyle/>
          <a:p>
            <a:fld id="{995067D5-EC1A-4409-8F8E-A7A83362B671}" type="datetimeFigureOut">
              <a:rPr lang="en-US" smtClean="0"/>
              <a:t>10/28/2026</a:t>
            </a:fld>
            <a:endParaRPr lang="en-US"/>
          </a:p>
        </p:txBody>
      </p:sp>
      <p:sp>
        <p:nvSpPr>
          <p:cNvPr id="5" name="Footer Placeholder 4">
            <a:extLst>
              <a:ext uri="{FF2B5EF4-FFF2-40B4-BE49-F238E27FC236}">
                <a16:creationId xmlns:a16="http://schemas.microsoft.com/office/drawing/2014/main" id="{BD17E741-C222-B82A-690A-20B4319683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4B7ACB-FBBF-4306-7F82-E99BF2B35220}"/>
              </a:ext>
            </a:extLst>
          </p:cNvPr>
          <p:cNvSpPr>
            <a:spLocks noGrp="1"/>
          </p:cNvSpPr>
          <p:nvPr>
            <p:ph type="sldNum" sz="quarter" idx="12"/>
          </p:nvPr>
        </p:nvSpPr>
        <p:spPr/>
        <p:txBody>
          <a:bodyPr/>
          <a:lstStyle/>
          <a:p>
            <a:fld id="{735DAC2B-37E7-4749-B9A2-2038206044AD}" type="slidenum">
              <a:rPr lang="en-US" smtClean="0"/>
              <a:t>‹#›</a:t>
            </a:fld>
            <a:endParaRPr lang="en-US"/>
          </a:p>
        </p:txBody>
      </p:sp>
    </p:spTree>
    <p:extLst>
      <p:ext uri="{BB962C8B-B14F-4D97-AF65-F5344CB8AC3E}">
        <p14:creationId xmlns:p14="http://schemas.microsoft.com/office/powerpoint/2010/main" val="4176693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20EDE-D31A-7C12-0885-9DA1AB756AA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6D1B3DF-F9D6-5A58-6DA0-19FB211738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6F45DB-EA71-97B5-2ADB-58D81E2145AC}"/>
              </a:ext>
            </a:extLst>
          </p:cNvPr>
          <p:cNvSpPr>
            <a:spLocks noGrp="1"/>
          </p:cNvSpPr>
          <p:nvPr>
            <p:ph type="dt" sz="half" idx="10"/>
          </p:nvPr>
        </p:nvSpPr>
        <p:spPr/>
        <p:txBody>
          <a:bodyPr/>
          <a:lstStyle/>
          <a:p>
            <a:fld id="{995067D5-EC1A-4409-8F8E-A7A83362B671}" type="datetimeFigureOut">
              <a:rPr lang="en-US" smtClean="0"/>
              <a:t>10/29/2026</a:t>
            </a:fld>
            <a:endParaRPr lang="en-US"/>
          </a:p>
        </p:txBody>
      </p:sp>
      <p:sp>
        <p:nvSpPr>
          <p:cNvPr id="5" name="Footer Placeholder 4">
            <a:extLst>
              <a:ext uri="{FF2B5EF4-FFF2-40B4-BE49-F238E27FC236}">
                <a16:creationId xmlns:a16="http://schemas.microsoft.com/office/drawing/2014/main" id="{90F51325-0D2E-C1DE-F2DB-E86917AD82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82E424-9265-2A67-B156-40A646FE9A84}"/>
              </a:ext>
            </a:extLst>
          </p:cNvPr>
          <p:cNvSpPr>
            <a:spLocks noGrp="1"/>
          </p:cNvSpPr>
          <p:nvPr>
            <p:ph type="sldNum" sz="quarter" idx="12"/>
          </p:nvPr>
        </p:nvSpPr>
        <p:spPr/>
        <p:txBody>
          <a:bodyPr/>
          <a:lstStyle/>
          <a:p>
            <a:fld id="{735DAC2B-37E7-4749-B9A2-2038206044AD}" type="slidenum">
              <a:rPr lang="en-US" smtClean="0"/>
              <a:t>‹#›</a:t>
            </a:fld>
            <a:endParaRPr lang="en-US"/>
          </a:p>
        </p:txBody>
      </p:sp>
    </p:spTree>
    <p:extLst>
      <p:ext uri="{BB962C8B-B14F-4D97-AF65-F5344CB8AC3E}">
        <p14:creationId xmlns:p14="http://schemas.microsoft.com/office/powerpoint/2010/main" val="536635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6182D-1E9E-4BD7-5AB7-C3F773D9F1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DB2CBE-DFBC-72E3-8BD6-67F57FDC59B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BE83A7D-EB33-ED56-8557-CC8201E81E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9CFF50C-9573-60D4-FA17-8AFA0B412DAC}"/>
              </a:ext>
            </a:extLst>
          </p:cNvPr>
          <p:cNvSpPr>
            <a:spLocks noGrp="1"/>
          </p:cNvSpPr>
          <p:nvPr>
            <p:ph type="dt" sz="half" idx="10"/>
          </p:nvPr>
        </p:nvSpPr>
        <p:spPr/>
        <p:txBody>
          <a:bodyPr/>
          <a:lstStyle/>
          <a:p>
            <a:fld id="{995067D5-EC1A-4409-8F8E-A7A83362B671}" type="datetimeFigureOut">
              <a:rPr lang="en-US" smtClean="0"/>
              <a:t>10/29/2026</a:t>
            </a:fld>
            <a:endParaRPr lang="en-US"/>
          </a:p>
        </p:txBody>
      </p:sp>
      <p:sp>
        <p:nvSpPr>
          <p:cNvPr id="6" name="Footer Placeholder 5">
            <a:extLst>
              <a:ext uri="{FF2B5EF4-FFF2-40B4-BE49-F238E27FC236}">
                <a16:creationId xmlns:a16="http://schemas.microsoft.com/office/drawing/2014/main" id="{D2730717-10E4-B544-199B-00742C030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B514D1-38C7-30DF-4324-7F20293127F4}"/>
              </a:ext>
            </a:extLst>
          </p:cNvPr>
          <p:cNvSpPr>
            <a:spLocks noGrp="1"/>
          </p:cNvSpPr>
          <p:nvPr>
            <p:ph type="sldNum" sz="quarter" idx="12"/>
          </p:nvPr>
        </p:nvSpPr>
        <p:spPr/>
        <p:txBody>
          <a:bodyPr/>
          <a:lstStyle/>
          <a:p>
            <a:fld id="{735DAC2B-37E7-4749-B9A2-2038206044AD}" type="slidenum">
              <a:rPr lang="en-US" smtClean="0"/>
              <a:t>‹#›</a:t>
            </a:fld>
            <a:endParaRPr lang="en-US"/>
          </a:p>
        </p:txBody>
      </p:sp>
    </p:spTree>
    <p:extLst>
      <p:ext uri="{BB962C8B-B14F-4D97-AF65-F5344CB8AC3E}">
        <p14:creationId xmlns:p14="http://schemas.microsoft.com/office/powerpoint/2010/main" val="144367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B73A8-DFF2-DD1E-D6F1-F3AF76A4DC6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0C92E63-206B-540A-F29A-2FBFB097CC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AE6678-7895-50D6-908A-76E197F4D6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EB4CBC-A446-EF24-68C9-E7876D6C2B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9E7397-8DD5-1886-6A9B-9DF718BE89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0E3725C-6210-9845-B401-9BA09AA65AFE}"/>
              </a:ext>
            </a:extLst>
          </p:cNvPr>
          <p:cNvSpPr>
            <a:spLocks noGrp="1"/>
          </p:cNvSpPr>
          <p:nvPr>
            <p:ph type="dt" sz="half" idx="10"/>
          </p:nvPr>
        </p:nvSpPr>
        <p:spPr/>
        <p:txBody>
          <a:bodyPr/>
          <a:lstStyle/>
          <a:p>
            <a:fld id="{995067D5-EC1A-4409-8F8E-A7A83362B671}" type="datetimeFigureOut">
              <a:rPr lang="en-US" smtClean="0"/>
              <a:t>10/29/2026</a:t>
            </a:fld>
            <a:endParaRPr lang="en-US"/>
          </a:p>
        </p:txBody>
      </p:sp>
      <p:sp>
        <p:nvSpPr>
          <p:cNvPr id="8" name="Footer Placeholder 7">
            <a:extLst>
              <a:ext uri="{FF2B5EF4-FFF2-40B4-BE49-F238E27FC236}">
                <a16:creationId xmlns:a16="http://schemas.microsoft.com/office/drawing/2014/main" id="{FEB138C4-7A2B-3807-A79E-FC91FF739B7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38610A5-D971-55C4-62EA-9748F1287AC5}"/>
              </a:ext>
            </a:extLst>
          </p:cNvPr>
          <p:cNvSpPr>
            <a:spLocks noGrp="1"/>
          </p:cNvSpPr>
          <p:nvPr>
            <p:ph type="sldNum" sz="quarter" idx="12"/>
          </p:nvPr>
        </p:nvSpPr>
        <p:spPr/>
        <p:txBody>
          <a:bodyPr/>
          <a:lstStyle/>
          <a:p>
            <a:fld id="{735DAC2B-37E7-4749-B9A2-2038206044AD}" type="slidenum">
              <a:rPr lang="en-US" smtClean="0"/>
              <a:t>‹#›</a:t>
            </a:fld>
            <a:endParaRPr lang="en-US"/>
          </a:p>
        </p:txBody>
      </p:sp>
    </p:spTree>
    <p:extLst>
      <p:ext uri="{BB962C8B-B14F-4D97-AF65-F5344CB8AC3E}">
        <p14:creationId xmlns:p14="http://schemas.microsoft.com/office/powerpoint/2010/main" val="630058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2E948-E7A9-B5F7-EBE3-3AEEAD2EAD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7967F9F-7C06-2881-B5CF-F51B09FF7501}"/>
              </a:ext>
            </a:extLst>
          </p:cNvPr>
          <p:cNvSpPr>
            <a:spLocks noGrp="1"/>
          </p:cNvSpPr>
          <p:nvPr>
            <p:ph type="dt" sz="half" idx="10"/>
          </p:nvPr>
        </p:nvSpPr>
        <p:spPr/>
        <p:txBody>
          <a:bodyPr/>
          <a:lstStyle/>
          <a:p>
            <a:fld id="{995067D5-EC1A-4409-8F8E-A7A83362B671}" type="datetimeFigureOut">
              <a:rPr lang="en-US" smtClean="0"/>
              <a:t>10/29/2026</a:t>
            </a:fld>
            <a:endParaRPr lang="en-US"/>
          </a:p>
        </p:txBody>
      </p:sp>
      <p:sp>
        <p:nvSpPr>
          <p:cNvPr id="4" name="Footer Placeholder 3">
            <a:extLst>
              <a:ext uri="{FF2B5EF4-FFF2-40B4-BE49-F238E27FC236}">
                <a16:creationId xmlns:a16="http://schemas.microsoft.com/office/drawing/2014/main" id="{219C442E-364E-EAF7-4AB5-08DC3F1E39D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D42B8AF-9D3A-ADA6-0068-3F7B4BE54817}"/>
              </a:ext>
            </a:extLst>
          </p:cNvPr>
          <p:cNvSpPr>
            <a:spLocks noGrp="1"/>
          </p:cNvSpPr>
          <p:nvPr>
            <p:ph type="sldNum" sz="quarter" idx="12"/>
          </p:nvPr>
        </p:nvSpPr>
        <p:spPr/>
        <p:txBody>
          <a:bodyPr/>
          <a:lstStyle/>
          <a:p>
            <a:fld id="{735DAC2B-37E7-4749-B9A2-2038206044AD}" type="slidenum">
              <a:rPr lang="en-US" smtClean="0"/>
              <a:t>‹#›</a:t>
            </a:fld>
            <a:endParaRPr lang="en-US"/>
          </a:p>
        </p:txBody>
      </p:sp>
    </p:spTree>
    <p:extLst>
      <p:ext uri="{BB962C8B-B14F-4D97-AF65-F5344CB8AC3E}">
        <p14:creationId xmlns:p14="http://schemas.microsoft.com/office/powerpoint/2010/main" val="791102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F8E4C6-427E-066F-4DA1-A87E760D1B85}"/>
              </a:ext>
            </a:extLst>
          </p:cNvPr>
          <p:cNvSpPr>
            <a:spLocks noGrp="1"/>
          </p:cNvSpPr>
          <p:nvPr>
            <p:ph type="dt" sz="half" idx="10"/>
          </p:nvPr>
        </p:nvSpPr>
        <p:spPr/>
        <p:txBody>
          <a:bodyPr/>
          <a:lstStyle/>
          <a:p>
            <a:fld id="{995067D5-EC1A-4409-8F8E-A7A83362B671}" type="datetimeFigureOut">
              <a:rPr lang="en-US" smtClean="0"/>
              <a:t>10/29/2026</a:t>
            </a:fld>
            <a:endParaRPr lang="en-US"/>
          </a:p>
        </p:txBody>
      </p:sp>
      <p:sp>
        <p:nvSpPr>
          <p:cNvPr id="3" name="Footer Placeholder 2">
            <a:extLst>
              <a:ext uri="{FF2B5EF4-FFF2-40B4-BE49-F238E27FC236}">
                <a16:creationId xmlns:a16="http://schemas.microsoft.com/office/drawing/2014/main" id="{2FD85595-A101-D45D-F739-B49AEFC8BF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AD65E71-99D1-0345-CD32-4B2E19AE08CD}"/>
              </a:ext>
            </a:extLst>
          </p:cNvPr>
          <p:cNvSpPr>
            <a:spLocks noGrp="1"/>
          </p:cNvSpPr>
          <p:nvPr>
            <p:ph type="sldNum" sz="quarter" idx="12"/>
          </p:nvPr>
        </p:nvSpPr>
        <p:spPr/>
        <p:txBody>
          <a:bodyPr/>
          <a:lstStyle/>
          <a:p>
            <a:fld id="{735DAC2B-37E7-4749-B9A2-2038206044AD}" type="slidenum">
              <a:rPr lang="en-US" smtClean="0"/>
              <a:t>‹#›</a:t>
            </a:fld>
            <a:endParaRPr lang="en-US"/>
          </a:p>
        </p:txBody>
      </p:sp>
    </p:spTree>
    <p:extLst>
      <p:ext uri="{BB962C8B-B14F-4D97-AF65-F5344CB8AC3E}">
        <p14:creationId xmlns:p14="http://schemas.microsoft.com/office/powerpoint/2010/main" val="42924098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EB6C3-9F46-42B9-D1DB-51CC4122FE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6A66485-854F-5CF6-D759-E5371A9C72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D117CE4-F608-8BDA-E9B8-F66217D771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59FCDF-1AB5-8ACF-2AB2-F33C895C634D}"/>
              </a:ext>
            </a:extLst>
          </p:cNvPr>
          <p:cNvSpPr>
            <a:spLocks noGrp="1"/>
          </p:cNvSpPr>
          <p:nvPr>
            <p:ph type="dt" sz="half" idx="10"/>
          </p:nvPr>
        </p:nvSpPr>
        <p:spPr/>
        <p:txBody>
          <a:bodyPr/>
          <a:lstStyle/>
          <a:p>
            <a:fld id="{995067D5-EC1A-4409-8F8E-A7A83362B671}" type="datetimeFigureOut">
              <a:rPr lang="en-US" smtClean="0"/>
              <a:t>10/29/2026</a:t>
            </a:fld>
            <a:endParaRPr lang="en-US"/>
          </a:p>
        </p:txBody>
      </p:sp>
      <p:sp>
        <p:nvSpPr>
          <p:cNvPr id="6" name="Footer Placeholder 5">
            <a:extLst>
              <a:ext uri="{FF2B5EF4-FFF2-40B4-BE49-F238E27FC236}">
                <a16:creationId xmlns:a16="http://schemas.microsoft.com/office/drawing/2014/main" id="{D769A459-85E2-AFA4-611C-42D4F3DD1D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D806C1-CC8F-E73F-B802-8A16A511CC75}"/>
              </a:ext>
            </a:extLst>
          </p:cNvPr>
          <p:cNvSpPr>
            <a:spLocks noGrp="1"/>
          </p:cNvSpPr>
          <p:nvPr>
            <p:ph type="sldNum" sz="quarter" idx="12"/>
          </p:nvPr>
        </p:nvSpPr>
        <p:spPr/>
        <p:txBody>
          <a:bodyPr/>
          <a:lstStyle/>
          <a:p>
            <a:fld id="{735DAC2B-37E7-4749-B9A2-2038206044AD}" type="slidenum">
              <a:rPr lang="en-US" smtClean="0"/>
              <a:t>‹#›</a:t>
            </a:fld>
            <a:endParaRPr lang="en-US"/>
          </a:p>
        </p:txBody>
      </p:sp>
    </p:spTree>
    <p:extLst>
      <p:ext uri="{BB962C8B-B14F-4D97-AF65-F5344CB8AC3E}">
        <p14:creationId xmlns:p14="http://schemas.microsoft.com/office/powerpoint/2010/main" val="89371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B6482-1233-DCB2-E43B-016C5F3F32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C2F3A68-F01A-614C-B9BB-CAED33CD8D1E}"/>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554ED86-D47C-4D60-EC0B-46C8E1B1A5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07E98E-3A71-A05C-6289-FD3EE7C4F171}"/>
              </a:ext>
            </a:extLst>
          </p:cNvPr>
          <p:cNvSpPr>
            <a:spLocks noGrp="1"/>
          </p:cNvSpPr>
          <p:nvPr>
            <p:ph type="dt" sz="half" idx="10"/>
          </p:nvPr>
        </p:nvSpPr>
        <p:spPr/>
        <p:txBody>
          <a:bodyPr/>
          <a:lstStyle/>
          <a:p>
            <a:fld id="{995067D5-EC1A-4409-8F8E-A7A83362B671}" type="datetimeFigureOut">
              <a:rPr lang="en-US" smtClean="0"/>
              <a:t>10/29/2026</a:t>
            </a:fld>
            <a:endParaRPr lang="en-US"/>
          </a:p>
        </p:txBody>
      </p:sp>
      <p:sp>
        <p:nvSpPr>
          <p:cNvPr id="6" name="Footer Placeholder 5">
            <a:extLst>
              <a:ext uri="{FF2B5EF4-FFF2-40B4-BE49-F238E27FC236}">
                <a16:creationId xmlns:a16="http://schemas.microsoft.com/office/drawing/2014/main" id="{0A748756-99B7-2098-C8EA-6AAB89F806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40926B-B8CF-1E03-C927-B40E6915561B}"/>
              </a:ext>
            </a:extLst>
          </p:cNvPr>
          <p:cNvSpPr>
            <a:spLocks noGrp="1"/>
          </p:cNvSpPr>
          <p:nvPr>
            <p:ph type="sldNum" sz="quarter" idx="12"/>
          </p:nvPr>
        </p:nvSpPr>
        <p:spPr/>
        <p:txBody>
          <a:bodyPr/>
          <a:lstStyle/>
          <a:p>
            <a:fld id="{735DAC2B-37E7-4749-B9A2-2038206044AD}" type="slidenum">
              <a:rPr lang="en-US" smtClean="0"/>
              <a:t>‹#›</a:t>
            </a:fld>
            <a:endParaRPr lang="en-US"/>
          </a:p>
        </p:txBody>
      </p:sp>
    </p:spTree>
    <p:extLst>
      <p:ext uri="{BB962C8B-B14F-4D97-AF65-F5344CB8AC3E}">
        <p14:creationId xmlns:p14="http://schemas.microsoft.com/office/powerpoint/2010/main" val="2307174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CF843-0C58-D97E-8AB9-D949673F30C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3494D6-CB87-6C06-B6B9-EAB4BB0D9BB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847A2C-0A83-C603-359D-A51698AC20B9}"/>
              </a:ext>
            </a:extLst>
          </p:cNvPr>
          <p:cNvSpPr>
            <a:spLocks noGrp="1"/>
          </p:cNvSpPr>
          <p:nvPr>
            <p:ph type="dt" sz="half" idx="10"/>
          </p:nvPr>
        </p:nvSpPr>
        <p:spPr/>
        <p:txBody>
          <a:bodyPr/>
          <a:lstStyle/>
          <a:p>
            <a:fld id="{995067D5-EC1A-4409-8F8E-A7A83362B671}" type="datetimeFigureOut">
              <a:rPr lang="en-US" smtClean="0"/>
              <a:t>10/29/2026</a:t>
            </a:fld>
            <a:endParaRPr lang="en-US"/>
          </a:p>
        </p:txBody>
      </p:sp>
      <p:sp>
        <p:nvSpPr>
          <p:cNvPr id="5" name="Footer Placeholder 4">
            <a:extLst>
              <a:ext uri="{FF2B5EF4-FFF2-40B4-BE49-F238E27FC236}">
                <a16:creationId xmlns:a16="http://schemas.microsoft.com/office/drawing/2014/main" id="{7F67CBD8-51FA-FC68-DF63-9C5F9CB89B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F19C40-10C2-20A8-C914-6161543C63AF}"/>
              </a:ext>
            </a:extLst>
          </p:cNvPr>
          <p:cNvSpPr>
            <a:spLocks noGrp="1"/>
          </p:cNvSpPr>
          <p:nvPr>
            <p:ph type="sldNum" sz="quarter" idx="12"/>
          </p:nvPr>
        </p:nvSpPr>
        <p:spPr/>
        <p:txBody>
          <a:bodyPr/>
          <a:lstStyle/>
          <a:p>
            <a:fld id="{735DAC2B-37E7-4749-B9A2-2038206044AD}" type="slidenum">
              <a:rPr lang="en-US" smtClean="0"/>
              <a:t>‹#›</a:t>
            </a:fld>
            <a:endParaRPr lang="en-US"/>
          </a:p>
        </p:txBody>
      </p:sp>
    </p:spTree>
    <p:extLst>
      <p:ext uri="{BB962C8B-B14F-4D97-AF65-F5344CB8AC3E}">
        <p14:creationId xmlns:p14="http://schemas.microsoft.com/office/powerpoint/2010/main" val="37140799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9B02F5-14D7-B6CA-CC1C-F9009D86304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EF17CD-11D9-9402-DFF2-700B300526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85A64B-F111-5DD2-2613-0037588EF253}"/>
              </a:ext>
            </a:extLst>
          </p:cNvPr>
          <p:cNvSpPr>
            <a:spLocks noGrp="1"/>
          </p:cNvSpPr>
          <p:nvPr>
            <p:ph type="dt" sz="half" idx="10"/>
          </p:nvPr>
        </p:nvSpPr>
        <p:spPr/>
        <p:txBody>
          <a:bodyPr/>
          <a:lstStyle/>
          <a:p>
            <a:fld id="{995067D5-EC1A-4409-8F8E-A7A83362B671}" type="datetimeFigureOut">
              <a:rPr lang="en-US" smtClean="0"/>
              <a:t>10/29/2026</a:t>
            </a:fld>
            <a:endParaRPr lang="en-US"/>
          </a:p>
        </p:txBody>
      </p:sp>
      <p:sp>
        <p:nvSpPr>
          <p:cNvPr id="5" name="Footer Placeholder 4">
            <a:extLst>
              <a:ext uri="{FF2B5EF4-FFF2-40B4-BE49-F238E27FC236}">
                <a16:creationId xmlns:a16="http://schemas.microsoft.com/office/drawing/2014/main" id="{46B5E773-D2BF-9E37-4DD4-6E68615ADB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14D7DC-B5AF-AF47-6F01-3885EFBC6B1D}"/>
              </a:ext>
            </a:extLst>
          </p:cNvPr>
          <p:cNvSpPr>
            <a:spLocks noGrp="1"/>
          </p:cNvSpPr>
          <p:nvPr>
            <p:ph type="sldNum" sz="quarter" idx="12"/>
          </p:nvPr>
        </p:nvSpPr>
        <p:spPr/>
        <p:txBody>
          <a:bodyPr/>
          <a:lstStyle/>
          <a:p>
            <a:fld id="{735DAC2B-37E7-4749-B9A2-2038206044AD}" type="slidenum">
              <a:rPr lang="en-US" smtClean="0"/>
              <a:t>‹#›</a:t>
            </a:fld>
            <a:endParaRPr lang="en-US"/>
          </a:p>
        </p:txBody>
      </p:sp>
    </p:spTree>
    <p:extLst>
      <p:ext uri="{BB962C8B-B14F-4D97-AF65-F5344CB8AC3E}">
        <p14:creationId xmlns:p14="http://schemas.microsoft.com/office/powerpoint/2010/main" val="876084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70919D-DF95-F25B-DFCF-77575AC134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F7A9795-DC39-42BE-E47E-A679770AEB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E4CE3B-C308-D6AC-003D-C08899202F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95067D5-EC1A-4409-8F8E-A7A83362B671}" type="datetimeFigureOut">
              <a:rPr lang="en-US" smtClean="0"/>
              <a:t>10/28/2026</a:t>
            </a:fld>
            <a:endParaRPr lang="en-US"/>
          </a:p>
        </p:txBody>
      </p:sp>
      <p:sp>
        <p:nvSpPr>
          <p:cNvPr id="5" name="Footer Placeholder 4">
            <a:extLst>
              <a:ext uri="{FF2B5EF4-FFF2-40B4-BE49-F238E27FC236}">
                <a16:creationId xmlns:a16="http://schemas.microsoft.com/office/drawing/2014/main" id="{85B4EDCC-5B3D-6E74-DC3F-8CE2E4510C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64BC9B3-E0F6-F8DC-6938-F104B94589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35DAC2B-37E7-4749-B9A2-2038206044AD}" type="slidenum">
              <a:rPr lang="en-US" smtClean="0"/>
              <a:t>‹#›</a:t>
            </a:fld>
            <a:endParaRPr lang="en-US"/>
          </a:p>
        </p:txBody>
      </p:sp>
    </p:spTree>
    <p:extLst>
      <p:ext uri="{BB962C8B-B14F-4D97-AF65-F5344CB8AC3E}">
        <p14:creationId xmlns:p14="http://schemas.microsoft.com/office/powerpoint/2010/main" val="7141807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94E8AC5-47E6-FCAD-1F13-38076BECE249}"/>
              </a:ext>
            </a:extLst>
          </p:cNvPr>
          <p:cNvPicPr>
            <a:picLocks noChangeAspect="1"/>
          </p:cNvPicPr>
          <p:nvPr/>
        </p:nvPicPr>
        <p:blipFill>
          <a:blip r:embed="rId2"/>
          <a:stretch>
            <a:fillRect/>
          </a:stretch>
        </p:blipFill>
        <p:spPr>
          <a:xfrm>
            <a:off x="0" y="152400"/>
            <a:ext cx="12192000" cy="6553200"/>
          </a:xfrm>
          <a:prstGeom prst="rect">
            <a:avLst/>
          </a:prstGeom>
        </p:spPr>
      </p:pic>
    </p:spTree>
    <p:extLst>
      <p:ext uri="{BB962C8B-B14F-4D97-AF65-F5344CB8AC3E}">
        <p14:creationId xmlns:p14="http://schemas.microsoft.com/office/powerpoint/2010/main" val="1906938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F576E-7E32-453C-845D-3A06518240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CC8D20-6F32-6130-0DA2-91D4629CB5B7}"/>
              </a:ext>
            </a:extLst>
          </p:cNvPr>
          <p:cNvSpPr>
            <a:spLocks noGrp="1"/>
          </p:cNvSpPr>
          <p:nvPr>
            <p:ph type="title"/>
          </p:nvPr>
        </p:nvSpPr>
        <p:spPr/>
        <p:txBody>
          <a:bodyPr/>
          <a:lstStyle/>
          <a:p>
            <a:r>
              <a:rPr lang="en-PH" dirty="0"/>
              <a:t>Key Performance Indicators</a:t>
            </a:r>
            <a:endParaRPr lang="en-US" dirty="0"/>
          </a:p>
        </p:txBody>
      </p:sp>
      <p:sp>
        <p:nvSpPr>
          <p:cNvPr id="3" name="Content Placeholder 2">
            <a:extLst>
              <a:ext uri="{FF2B5EF4-FFF2-40B4-BE49-F238E27FC236}">
                <a16:creationId xmlns:a16="http://schemas.microsoft.com/office/drawing/2014/main" id="{22C8BD1B-AF8A-1D7B-5791-9CF3EA61AF6F}"/>
              </a:ext>
            </a:extLst>
          </p:cNvPr>
          <p:cNvSpPr>
            <a:spLocks noGrp="1"/>
          </p:cNvSpPr>
          <p:nvPr>
            <p:ph idx="1"/>
          </p:nvPr>
        </p:nvSpPr>
        <p:spPr/>
        <p:txBody>
          <a:bodyPr>
            <a:normAutofit/>
          </a:bodyPr>
          <a:lstStyle/>
          <a:p>
            <a:r>
              <a:rPr lang="en-US" dirty="0"/>
              <a:t>Gross Sales: PHP 5,368,956.93</a:t>
            </a:r>
          </a:p>
          <a:p>
            <a:r>
              <a:rPr lang="en-US" dirty="0"/>
              <a:t>Fulfilled Orders: 11,439</a:t>
            </a:r>
          </a:p>
          <a:p>
            <a:r>
              <a:rPr lang="en-US" dirty="0"/>
              <a:t>Average Order Value: PHP 434.35</a:t>
            </a:r>
          </a:p>
          <a:p>
            <a:r>
              <a:rPr lang="en-US" dirty="0"/>
              <a:t>Top Category: Toys</a:t>
            </a:r>
          </a:p>
          <a:p>
            <a:r>
              <a:rPr lang="en-US" dirty="0"/>
              <a:t>Net Sales after Order Discounts: PHP 4,968,543.75</a:t>
            </a:r>
          </a:p>
          <a:p>
            <a:r>
              <a:rPr lang="en-US" dirty="0"/>
              <a:t>Customer Count: 22,571 Repeat vs. 4,506 New</a:t>
            </a:r>
          </a:p>
          <a:p>
            <a:endParaRPr lang="en-US" dirty="0"/>
          </a:p>
        </p:txBody>
      </p:sp>
    </p:spTree>
    <p:extLst>
      <p:ext uri="{BB962C8B-B14F-4D97-AF65-F5344CB8AC3E}">
        <p14:creationId xmlns:p14="http://schemas.microsoft.com/office/powerpoint/2010/main" val="1441921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D21A2-BD6A-E335-CF07-9AAB88ADFB7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0BBCCAF-C6B5-8857-B844-0C1C0DFE61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69571"/>
            <a:ext cx="12192000" cy="3918857"/>
          </a:xfrm>
          <a:prstGeom prst="rect">
            <a:avLst/>
          </a:prstGeom>
        </p:spPr>
      </p:pic>
    </p:spTree>
    <p:extLst>
      <p:ext uri="{BB962C8B-B14F-4D97-AF65-F5344CB8AC3E}">
        <p14:creationId xmlns:p14="http://schemas.microsoft.com/office/powerpoint/2010/main" val="2038312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B4433-D028-5BF2-35F9-744C402608DC}"/>
              </a:ext>
            </a:extLst>
          </p:cNvPr>
          <p:cNvSpPr>
            <a:spLocks noGrp="1"/>
          </p:cNvSpPr>
          <p:nvPr>
            <p:ph type="title"/>
          </p:nvPr>
        </p:nvSpPr>
        <p:spPr/>
        <p:txBody>
          <a:bodyPr/>
          <a:lstStyle/>
          <a:p>
            <a:r>
              <a:rPr lang="en-PH" dirty="0"/>
              <a:t>Insights and Recommendations</a:t>
            </a:r>
            <a:endParaRPr lang="en-US" dirty="0"/>
          </a:p>
        </p:txBody>
      </p:sp>
      <p:sp>
        <p:nvSpPr>
          <p:cNvPr id="3" name="Content Placeholder 2">
            <a:extLst>
              <a:ext uri="{FF2B5EF4-FFF2-40B4-BE49-F238E27FC236}">
                <a16:creationId xmlns:a16="http://schemas.microsoft.com/office/drawing/2014/main" id="{2A0B01E6-A9AA-33E9-FEF0-3A34C0FE91FB}"/>
              </a:ext>
            </a:extLst>
          </p:cNvPr>
          <p:cNvSpPr>
            <a:spLocks noGrp="1"/>
          </p:cNvSpPr>
          <p:nvPr>
            <p:ph idx="1"/>
          </p:nvPr>
        </p:nvSpPr>
        <p:spPr/>
        <p:txBody>
          <a:bodyPr>
            <a:normAutofit/>
          </a:bodyPr>
          <a:lstStyle/>
          <a:p>
            <a:r>
              <a:rPr lang="en-US" dirty="0"/>
              <a:t>Insight 1: monthly gross sales fluctuated significantly from January 2024 to January 2026, peaking at approximately PHP 239,000 in August 2025 before declining to around PHP 200,000 by January 2026, which suggests inconsistent sales performance and a weakening trend toward the end of the period. </a:t>
            </a:r>
          </a:p>
          <a:p>
            <a:r>
              <a:rPr lang="en-US" dirty="0"/>
              <a:t>Recommendation 1: analyze the factors behind peak-sales months and replicate successful strategies such as effective promotions or seasonal campaigns – while investigating the late-2025 decline; moreover, implement targeted marketing and sales initiatives to stabilize monthly revenue and sustain growth.</a:t>
            </a:r>
          </a:p>
        </p:txBody>
      </p:sp>
    </p:spTree>
    <p:extLst>
      <p:ext uri="{BB962C8B-B14F-4D97-AF65-F5344CB8AC3E}">
        <p14:creationId xmlns:p14="http://schemas.microsoft.com/office/powerpoint/2010/main" val="2814024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54B3BB6A-C115-2FE4-C622-E66B989C32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6550" y="1285875"/>
            <a:ext cx="6438900" cy="4286250"/>
          </a:xfrm>
          <a:prstGeom prst="rect">
            <a:avLst/>
          </a:prstGeom>
        </p:spPr>
      </p:pic>
    </p:spTree>
    <p:extLst>
      <p:ext uri="{BB962C8B-B14F-4D97-AF65-F5344CB8AC3E}">
        <p14:creationId xmlns:p14="http://schemas.microsoft.com/office/powerpoint/2010/main" val="2147829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BECC3-68A3-C392-61BF-50EB0E4A3A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B91789-D805-4443-C330-FBB05420C654}"/>
              </a:ext>
            </a:extLst>
          </p:cNvPr>
          <p:cNvSpPr>
            <a:spLocks noGrp="1"/>
          </p:cNvSpPr>
          <p:nvPr>
            <p:ph type="title"/>
          </p:nvPr>
        </p:nvSpPr>
        <p:spPr/>
        <p:txBody>
          <a:bodyPr/>
          <a:lstStyle/>
          <a:p>
            <a:r>
              <a:rPr lang="en-PH" dirty="0"/>
              <a:t>Insights and Recommendations</a:t>
            </a:r>
            <a:endParaRPr lang="en-US" dirty="0"/>
          </a:p>
        </p:txBody>
      </p:sp>
      <p:sp>
        <p:nvSpPr>
          <p:cNvPr id="3" name="Content Placeholder 2">
            <a:extLst>
              <a:ext uri="{FF2B5EF4-FFF2-40B4-BE49-F238E27FC236}">
                <a16:creationId xmlns:a16="http://schemas.microsoft.com/office/drawing/2014/main" id="{762C9236-225F-5E62-E996-5A97FFAD05B4}"/>
              </a:ext>
            </a:extLst>
          </p:cNvPr>
          <p:cNvSpPr>
            <a:spLocks noGrp="1"/>
          </p:cNvSpPr>
          <p:nvPr>
            <p:ph idx="1"/>
          </p:nvPr>
        </p:nvSpPr>
        <p:spPr/>
        <p:txBody>
          <a:bodyPr>
            <a:normAutofit/>
          </a:bodyPr>
          <a:lstStyle/>
          <a:p>
            <a:r>
              <a:rPr lang="en-US" dirty="0"/>
              <a:t>Insight 2: Toys generate the highest gross sales at approximately PHP 740,000, followed by Electronics at PHP 720,000; Sports has the lowest sales at around PHP 570,000, indicating differences in customer demand across product categories.</a:t>
            </a:r>
          </a:p>
          <a:p>
            <a:r>
              <a:rPr lang="en-US" dirty="0"/>
              <a:t>Recommendation 2: prioritize inventory and marketing for high-performing categories like Toys and Electronics to sustain revenue – while reviewing the performance of Sports and other lower-selling categories to identify opportunities for improvement through targeted promotions and product assortment adjustments.</a:t>
            </a:r>
          </a:p>
        </p:txBody>
      </p:sp>
    </p:spTree>
    <p:extLst>
      <p:ext uri="{BB962C8B-B14F-4D97-AF65-F5344CB8AC3E}">
        <p14:creationId xmlns:p14="http://schemas.microsoft.com/office/powerpoint/2010/main" val="3285338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A22CF-A86B-EF96-C72E-F3033E6C42F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5683390-E04C-1450-DC0C-480F471A7C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6550" y="1285875"/>
            <a:ext cx="6438900" cy="4286250"/>
          </a:xfrm>
          <a:prstGeom prst="rect">
            <a:avLst/>
          </a:prstGeom>
        </p:spPr>
      </p:pic>
    </p:spTree>
    <p:extLst>
      <p:ext uri="{BB962C8B-B14F-4D97-AF65-F5344CB8AC3E}">
        <p14:creationId xmlns:p14="http://schemas.microsoft.com/office/powerpoint/2010/main" val="2747566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26361-12DF-9D70-3977-0CEEECCA2E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ECD955-0C92-8EB3-458A-2ACE0CE36BFB}"/>
              </a:ext>
            </a:extLst>
          </p:cNvPr>
          <p:cNvSpPr>
            <a:spLocks noGrp="1"/>
          </p:cNvSpPr>
          <p:nvPr>
            <p:ph type="title"/>
          </p:nvPr>
        </p:nvSpPr>
        <p:spPr/>
        <p:txBody>
          <a:bodyPr/>
          <a:lstStyle/>
          <a:p>
            <a:r>
              <a:rPr lang="en-PH" dirty="0"/>
              <a:t>Insights and Recommendations</a:t>
            </a:r>
            <a:endParaRPr lang="en-US" dirty="0"/>
          </a:p>
        </p:txBody>
      </p:sp>
      <p:sp>
        <p:nvSpPr>
          <p:cNvPr id="3" name="Content Placeholder 2">
            <a:extLst>
              <a:ext uri="{FF2B5EF4-FFF2-40B4-BE49-F238E27FC236}">
                <a16:creationId xmlns:a16="http://schemas.microsoft.com/office/drawing/2014/main" id="{59D7ADF9-7CB8-8CCF-414C-EB03E68FF9E9}"/>
              </a:ext>
            </a:extLst>
          </p:cNvPr>
          <p:cNvSpPr>
            <a:spLocks noGrp="1"/>
          </p:cNvSpPr>
          <p:nvPr>
            <p:ph idx="1"/>
          </p:nvPr>
        </p:nvSpPr>
        <p:spPr/>
        <p:txBody>
          <a:bodyPr>
            <a:normAutofit/>
          </a:bodyPr>
          <a:lstStyle/>
          <a:p>
            <a:r>
              <a:rPr lang="en-US" dirty="0"/>
              <a:t>Insight 3: Central Luzon generates the highest gross sales at approximately PHP 950,000, followed by Central Visayas at PHP 925,000; CALABARZON records the lowest sales at around PHP 830,000, indicating opportunities to improve regional performance.</a:t>
            </a:r>
          </a:p>
          <a:p>
            <a:r>
              <a:rPr lang="en-US" dirty="0"/>
              <a:t>Recommendation 3: maintain strong sales strategies in Central Luzon and Central Visayas – while investigating the factors behind CALABARZON’s lower sales; moreover, implement targeted regional promotions and strengthen distribution efforts to increase revenue and reduce performance gaps across regions.</a:t>
            </a:r>
          </a:p>
        </p:txBody>
      </p:sp>
    </p:spTree>
    <p:extLst>
      <p:ext uri="{BB962C8B-B14F-4D97-AF65-F5344CB8AC3E}">
        <p14:creationId xmlns:p14="http://schemas.microsoft.com/office/powerpoint/2010/main" val="1496172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D64BC-6084-8A5F-C63E-6F93583BDA1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EC5C970-1AE3-2D5F-4EAC-EC51FEAE93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6550" y="1285875"/>
            <a:ext cx="6438900" cy="4286250"/>
          </a:xfrm>
          <a:prstGeom prst="rect">
            <a:avLst/>
          </a:prstGeom>
        </p:spPr>
      </p:pic>
    </p:spTree>
    <p:extLst>
      <p:ext uri="{BB962C8B-B14F-4D97-AF65-F5344CB8AC3E}">
        <p14:creationId xmlns:p14="http://schemas.microsoft.com/office/powerpoint/2010/main" val="2019874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87DA6-3D63-9A97-7AE7-8EA6643E41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961DC3-8333-CC1A-59D4-B3046EF5EBD5}"/>
              </a:ext>
            </a:extLst>
          </p:cNvPr>
          <p:cNvSpPr>
            <a:spLocks noGrp="1"/>
          </p:cNvSpPr>
          <p:nvPr>
            <p:ph type="title"/>
          </p:nvPr>
        </p:nvSpPr>
        <p:spPr/>
        <p:txBody>
          <a:bodyPr/>
          <a:lstStyle/>
          <a:p>
            <a:r>
              <a:rPr lang="en-PH" dirty="0"/>
              <a:t>Insights and Recommendations</a:t>
            </a:r>
            <a:endParaRPr lang="en-US" dirty="0"/>
          </a:p>
        </p:txBody>
      </p:sp>
      <p:sp>
        <p:nvSpPr>
          <p:cNvPr id="3" name="Content Placeholder 2">
            <a:extLst>
              <a:ext uri="{FF2B5EF4-FFF2-40B4-BE49-F238E27FC236}">
                <a16:creationId xmlns:a16="http://schemas.microsoft.com/office/drawing/2014/main" id="{132CA26B-D676-964C-29D6-FC155F169ED5}"/>
              </a:ext>
            </a:extLst>
          </p:cNvPr>
          <p:cNvSpPr>
            <a:spLocks noGrp="1"/>
          </p:cNvSpPr>
          <p:nvPr>
            <p:ph idx="1"/>
          </p:nvPr>
        </p:nvSpPr>
        <p:spPr/>
        <p:txBody>
          <a:bodyPr>
            <a:normAutofit/>
          </a:bodyPr>
          <a:lstStyle/>
          <a:p>
            <a:r>
              <a:rPr lang="en-US" dirty="0"/>
              <a:t>Insight 4: order values are heavily concentrated below PHP 500, with the highest frequency around PHP 200–300; the distribution is right-skewed, meaning high-value orders are relatively rare.</a:t>
            </a:r>
          </a:p>
          <a:p>
            <a:r>
              <a:rPr lang="en-US" dirty="0"/>
              <a:t>Recommendation 4: focus on increasing average order value through targeted upselling, product bundles, and free-shipping incentives for orders above PHP 500 – while maintaining affordable options that appeal to the majority of customers.</a:t>
            </a:r>
          </a:p>
        </p:txBody>
      </p:sp>
    </p:spTree>
    <p:extLst>
      <p:ext uri="{BB962C8B-B14F-4D97-AF65-F5344CB8AC3E}">
        <p14:creationId xmlns:p14="http://schemas.microsoft.com/office/powerpoint/2010/main" val="32038691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5DEEC-7967-D009-FC4F-27554993482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08D785C-6902-026B-B318-B0D3E44CCF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6550" y="1285875"/>
            <a:ext cx="6438900" cy="4286250"/>
          </a:xfrm>
          <a:prstGeom prst="rect">
            <a:avLst/>
          </a:prstGeom>
        </p:spPr>
      </p:pic>
    </p:spTree>
    <p:extLst>
      <p:ext uri="{BB962C8B-B14F-4D97-AF65-F5344CB8AC3E}">
        <p14:creationId xmlns:p14="http://schemas.microsoft.com/office/powerpoint/2010/main" val="673971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417D0-6501-61DE-3BD8-6A59089A6E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C9F20-2C66-F27A-2868-A6FF394AE2A5}"/>
              </a:ext>
            </a:extLst>
          </p:cNvPr>
          <p:cNvSpPr>
            <a:spLocks noGrp="1"/>
          </p:cNvSpPr>
          <p:nvPr>
            <p:ph type="title"/>
          </p:nvPr>
        </p:nvSpPr>
        <p:spPr/>
        <p:txBody>
          <a:bodyPr/>
          <a:lstStyle/>
          <a:p>
            <a:r>
              <a:rPr lang="en-PH" dirty="0"/>
              <a:t>Insights and Recommendations</a:t>
            </a:r>
            <a:endParaRPr lang="en-US" dirty="0"/>
          </a:p>
        </p:txBody>
      </p:sp>
      <p:sp>
        <p:nvSpPr>
          <p:cNvPr id="3" name="Content Placeholder 2">
            <a:extLst>
              <a:ext uri="{FF2B5EF4-FFF2-40B4-BE49-F238E27FC236}">
                <a16:creationId xmlns:a16="http://schemas.microsoft.com/office/drawing/2014/main" id="{8DBCD029-FFD9-C5FF-F0F0-A8AE03C2ECC8}"/>
              </a:ext>
            </a:extLst>
          </p:cNvPr>
          <p:cNvSpPr>
            <a:spLocks noGrp="1"/>
          </p:cNvSpPr>
          <p:nvPr>
            <p:ph idx="1"/>
          </p:nvPr>
        </p:nvSpPr>
        <p:spPr/>
        <p:txBody>
          <a:bodyPr>
            <a:normAutofit/>
          </a:bodyPr>
          <a:lstStyle/>
          <a:p>
            <a:r>
              <a:rPr lang="en-US" dirty="0"/>
              <a:t>Insight 5: the Web channel generates the highest gross sales, whereas the Marketplace has the lowest; however, sales across all three channels are relatively similar at approximately PHP 1.75–1.80 million.</a:t>
            </a:r>
          </a:p>
          <a:p>
            <a:r>
              <a:rPr lang="en-US" dirty="0"/>
              <a:t>Recommendation 5: maintain strong performance across all channels – while analyzing the Web channel’s successful strategies and applying them to the Marketplace to help close the sales gap and increase overall revenue.</a:t>
            </a:r>
          </a:p>
        </p:txBody>
      </p:sp>
    </p:spTree>
    <p:extLst>
      <p:ext uri="{BB962C8B-B14F-4D97-AF65-F5344CB8AC3E}">
        <p14:creationId xmlns:p14="http://schemas.microsoft.com/office/powerpoint/2010/main" val="41484315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693A4-3B36-E425-B0E1-54B19769847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49CDEFE-C7F9-2FC5-D7D6-27356E4750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69571"/>
            <a:ext cx="12192000" cy="3918857"/>
          </a:xfrm>
          <a:prstGeom prst="rect">
            <a:avLst/>
          </a:prstGeom>
        </p:spPr>
      </p:pic>
    </p:spTree>
    <p:extLst>
      <p:ext uri="{BB962C8B-B14F-4D97-AF65-F5344CB8AC3E}">
        <p14:creationId xmlns:p14="http://schemas.microsoft.com/office/powerpoint/2010/main" val="1572903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FB443-20F5-47C0-F4C8-09464B52BD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F8F87C-E2CF-4E3B-D55A-2B00DD1A7CDE}"/>
              </a:ext>
            </a:extLst>
          </p:cNvPr>
          <p:cNvSpPr>
            <a:spLocks noGrp="1"/>
          </p:cNvSpPr>
          <p:nvPr>
            <p:ph type="title"/>
          </p:nvPr>
        </p:nvSpPr>
        <p:spPr/>
        <p:txBody>
          <a:bodyPr/>
          <a:lstStyle/>
          <a:p>
            <a:r>
              <a:rPr lang="en-PH" dirty="0"/>
              <a:t>Insights and Recommendations</a:t>
            </a:r>
            <a:endParaRPr lang="en-US" dirty="0"/>
          </a:p>
        </p:txBody>
      </p:sp>
      <p:sp>
        <p:nvSpPr>
          <p:cNvPr id="3" name="Content Placeholder 2">
            <a:extLst>
              <a:ext uri="{FF2B5EF4-FFF2-40B4-BE49-F238E27FC236}">
                <a16:creationId xmlns:a16="http://schemas.microsoft.com/office/drawing/2014/main" id="{B077AD01-4BD9-043F-CC6A-D6A19372654E}"/>
              </a:ext>
            </a:extLst>
          </p:cNvPr>
          <p:cNvSpPr>
            <a:spLocks noGrp="1"/>
          </p:cNvSpPr>
          <p:nvPr>
            <p:ph idx="1"/>
          </p:nvPr>
        </p:nvSpPr>
        <p:spPr/>
        <p:txBody>
          <a:bodyPr>
            <a:normAutofit/>
          </a:bodyPr>
          <a:lstStyle/>
          <a:p>
            <a:r>
              <a:rPr lang="en-US" dirty="0"/>
              <a:t>Insight 6: monthly returns fluctuate significantly, ranging from approximately 67 to 119 — with notable peaks in June 2024, November 2024, and July 2025; despite these spikes, returns declined toward the end of 2025 before recovering in January 2026.</a:t>
            </a:r>
          </a:p>
          <a:p>
            <a:r>
              <a:rPr lang="en-US" dirty="0"/>
              <a:t>Recommendation 6: investigate the factors driving peak-return months and the sharp declines, then use these insights to develop targeted strategies to stabilize monthly returns and replicate successful performance patterns.</a:t>
            </a:r>
          </a:p>
        </p:txBody>
      </p:sp>
    </p:spTree>
    <p:extLst>
      <p:ext uri="{BB962C8B-B14F-4D97-AF65-F5344CB8AC3E}">
        <p14:creationId xmlns:p14="http://schemas.microsoft.com/office/powerpoint/2010/main" val="4361903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2E05D-4896-A419-2D85-C9097865CFA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F601A50-F0A6-98BB-BF3E-6090408D4D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69571"/>
            <a:ext cx="12192000" cy="3918857"/>
          </a:xfrm>
          <a:prstGeom prst="rect">
            <a:avLst/>
          </a:prstGeom>
        </p:spPr>
      </p:pic>
    </p:spTree>
    <p:extLst>
      <p:ext uri="{BB962C8B-B14F-4D97-AF65-F5344CB8AC3E}">
        <p14:creationId xmlns:p14="http://schemas.microsoft.com/office/powerpoint/2010/main" val="128378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F3C18-D99B-4875-B1B3-54E7C5ADA7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C69DF3-E1A9-7AF6-94F1-1EC8BF0F2B50}"/>
              </a:ext>
            </a:extLst>
          </p:cNvPr>
          <p:cNvSpPr>
            <a:spLocks noGrp="1"/>
          </p:cNvSpPr>
          <p:nvPr>
            <p:ph type="title"/>
          </p:nvPr>
        </p:nvSpPr>
        <p:spPr/>
        <p:txBody>
          <a:bodyPr/>
          <a:lstStyle/>
          <a:p>
            <a:r>
              <a:rPr lang="en-PH" dirty="0"/>
              <a:t>Insights and Recommendations</a:t>
            </a:r>
            <a:endParaRPr lang="en-US" dirty="0"/>
          </a:p>
        </p:txBody>
      </p:sp>
      <p:sp>
        <p:nvSpPr>
          <p:cNvPr id="3" name="Content Placeholder 2">
            <a:extLst>
              <a:ext uri="{FF2B5EF4-FFF2-40B4-BE49-F238E27FC236}">
                <a16:creationId xmlns:a16="http://schemas.microsoft.com/office/drawing/2014/main" id="{2F9DB161-3940-77A6-6E73-499F0358EDB9}"/>
              </a:ext>
            </a:extLst>
          </p:cNvPr>
          <p:cNvSpPr>
            <a:spLocks noGrp="1"/>
          </p:cNvSpPr>
          <p:nvPr>
            <p:ph idx="1"/>
          </p:nvPr>
        </p:nvSpPr>
        <p:spPr/>
        <p:txBody>
          <a:bodyPr>
            <a:normAutofit/>
          </a:bodyPr>
          <a:lstStyle/>
          <a:p>
            <a:r>
              <a:rPr lang="en-US" dirty="0"/>
              <a:t>Insight 7: </a:t>
            </a:r>
            <a:r>
              <a:rPr lang="en-US" dirty="0" err="1"/>
              <a:t>KidJoy</a:t>
            </a:r>
            <a:r>
              <a:rPr lang="en-US" dirty="0"/>
              <a:t> Toys 607 is the top-selling product by gross sales, significantly outperforming the other products, whereas </a:t>
            </a:r>
            <a:r>
              <a:rPr lang="en-US" dirty="0" err="1"/>
              <a:t>BookNest</a:t>
            </a:r>
            <a:r>
              <a:rPr lang="en-US" dirty="0"/>
              <a:t> Groceries 219 ranks lowest among the top 10; this indicates stronger sales performance in certain product categories, particularly toys.</a:t>
            </a:r>
          </a:p>
          <a:p>
            <a:r>
              <a:rPr lang="en-US" dirty="0"/>
              <a:t>Recommendation 7: prioritize inventory and marketing for high-performing products like </a:t>
            </a:r>
            <a:r>
              <a:rPr lang="en-US" dirty="0" err="1"/>
              <a:t>KidJoy</a:t>
            </a:r>
            <a:r>
              <a:rPr lang="en-US" dirty="0"/>
              <a:t> Toys 607 to sustain sales momentum – while reviewing the pricing, promotions, and customer demand for lower-performing products to identify opportunities for improvement.</a:t>
            </a:r>
          </a:p>
        </p:txBody>
      </p:sp>
    </p:spTree>
    <p:extLst>
      <p:ext uri="{BB962C8B-B14F-4D97-AF65-F5344CB8AC3E}">
        <p14:creationId xmlns:p14="http://schemas.microsoft.com/office/powerpoint/2010/main" val="32922300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4973B-0D68-F59E-AD2F-0209C4AD29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EA979B-8FC1-7453-143D-D0DA320C2177}"/>
              </a:ext>
            </a:extLst>
          </p:cNvPr>
          <p:cNvSpPr>
            <a:spLocks noGrp="1"/>
          </p:cNvSpPr>
          <p:nvPr>
            <p:ph type="title"/>
          </p:nvPr>
        </p:nvSpPr>
        <p:spPr/>
        <p:txBody>
          <a:bodyPr/>
          <a:lstStyle/>
          <a:p>
            <a:r>
              <a:rPr lang="en-PH" dirty="0"/>
              <a:t>Summary and Conclusions</a:t>
            </a:r>
            <a:endParaRPr lang="en-US" dirty="0"/>
          </a:p>
        </p:txBody>
      </p:sp>
      <p:sp>
        <p:nvSpPr>
          <p:cNvPr id="3" name="Content Placeholder 2">
            <a:extLst>
              <a:ext uri="{FF2B5EF4-FFF2-40B4-BE49-F238E27FC236}">
                <a16:creationId xmlns:a16="http://schemas.microsoft.com/office/drawing/2014/main" id="{91787363-8C79-C6C1-5145-A1FF180C7FCC}"/>
              </a:ext>
            </a:extLst>
          </p:cNvPr>
          <p:cNvSpPr>
            <a:spLocks noGrp="1"/>
          </p:cNvSpPr>
          <p:nvPr>
            <p:ph idx="1"/>
          </p:nvPr>
        </p:nvSpPr>
        <p:spPr/>
        <p:txBody>
          <a:bodyPr>
            <a:normAutofit/>
          </a:bodyPr>
          <a:lstStyle/>
          <a:p>
            <a:r>
              <a:rPr lang="en-US" dirty="0"/>
              <a:t>Toys emerged as the leading product category, with </a:t>
            </a:r>
            <a:r>
              <a:rPr lang="en-US" dirty="0" err="1"/>
              <a:t>KidJoy</a:t>
            </a:r>
            <a:r>
              <a:rPr lang="en-US" dirty="0"/>
              <a:t> Toys 607 achieving the highest product sales, whereas Sports recorded the lowest category sales.</a:t>
            </a:r>
          </a:p>
          <a:p>
            <a:r>
              <a:rPr lang="en-US" dirty="0"/>
              <a:t>Geographically, Central Luzon performed best, whereas CALABARZON offers opportunities for improvement.</a:t>
            </a:r>
          </a:p>
          <a:p>
            <a:r>
              <a:rPr lang="en-US" dirty="0"/>
              <a:t>The Web channel generated the highest gross sales, although sales across all channels remained relatively balanced.</a:t>
            </a:r>
          </a:p>
        </p:txBody>
      </p:sp>
    </p:spTree>
    <p:extLst>
      <p:ext uri="{BB962C8B-B14F-4D97-AF65-F5344CB8AC3E}">
        <p14:creationId xmlns:p14="http://schemas.microsoft.com/office/powerpoint/2010/main" val="4484622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B1E80-F6C2-AE68-1B2C-C3195B6F59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BC990B-E67C-1527-E8E8-FCE039D3AF03}"/>
              </a:ext>
            </a:extLst>
          </p:cNvPr>
          <p:cNvSpPr>
            <a:spLocks noGrp="1"/>
          </p:cNvSpPr>
          <p:nvPr>
            <p:ph type="title"/>
          </p:nvPr>
        </p:nvSpPr>
        <p:spPr/>
        <p:txBody>
          <a:bodyPr/>
          <a:lstStyle/>
          <a:p>
            <a:r>
              <a:rPr lang="en-PH" dirty="0"/>
              <a:t>Summary and Conclusions</a:t>
            </a:r>
            <a:endParaRPr lang="en-US" dirty="0"/>
          </a:p>
        </p:txBody>
      </p:sp>
      <p:sp>
        <p:nvSpPr>
          <p:cNvPr id="3" name="Content Placeholder 2">
            <a:extLst>
              <a:ext uri="{FF2B5EF4-FFF2-40B4-BE49-F238E27FC236}">
                <a16:creationId xmlns:a16="http://schemas.microsoft.com/office/drawing/2014/main" id="{7C3C3007-D56B-908F-27DD-5BA9527C4DFD}"/>
              </a:ext>
            </a:extLst>
          </p:cNvPr>
          <p:cNvSpPr>
            <a:spLocks noGrp="1"/>
          </p:cNvSpPr>
          <p:nvPr>
            <p:ph idx="1"/>
          </p:nvPr>
        </p:nvSpPr>
        <p:spPr/>
        <p:txBody>
          <a:bodyPr>
            <a:normAutofit/>
          </a:bodyPr>
          <a:lstStyle/>
          <a:p>
            <a:r>
              <a:rPr lang="en-US" dirty="0"/>
              <a:t>Most orders were valued below PHP 500, suggesting that the business primarily serves budget-conscious customers.</a:t>
            </a:r>
          </a:p>
          <a:p>
            <a:r>
              <a:rPr lang="en-US" dirty="0"/>
              <a:t>Monthly sales fluctuated considerably, reaching a peak in August 2025 before declining toward January 2026, whereas product returns also varied throughout the period.</a:t>
            </a:r>
          </a:p>
          <a:p>
            <a:r>
              <a:rPr lang="en-US" dirty="0"/>
              <a:t>Customer data shows a strong repeat-customer base, indicating potential customer loyalty and opportunities to attract new buyers.</a:t>
            </a:r>
          </a:p>
        </p:txBody>
      </p:sp>
    </p:spTree>
    <p:extLst>
      <p:ext uri="{BB962C8B-B14F-4D97-AF65-F5344CB8AC3E}">
        <p14:creationId xmlns:p14="http://schemas.microsoft.com/office/powerpoint/2010/main" val="21823521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3CC3E-22E6-974D-7617-9364EF8BBE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DAD622-648A-2364-7D03-78594B63F874}"/>
              </a:ext>
            </a:extLst>
          </p:cNvPr>
          <p:cNvSpPr>
            <a:spLocks noGrp="1"/>
          </p:cNvSpPr>
          <p:nvPr>
            <p:ph type="title"/>
          </p:nvPr>
        </p:nvSpPr>
        <p:spPr/>
        <p:txBody>
          <a:bodyPr/>
          <a:lstStyle/>
          <a:p>
            <a:r>
              <a:rPr lang="en-PH" dirty="0"/>
              <a:t>Summary and Conclusions</a:t>
            </a:r>
            <a:endParaRPr lang="en-US" dirty="0"/>
          </a:p>
        </p:txBody>
      </p:sp>
      <p:sp>
        <p:nvSpPr>
          <p:cNvPr id="3" name="Content Placeholder 2">
            <a:extLst>
              <a:ext uri="{FF2B5EF4-FFF2-40B4-BE49-F238E27FC236}">
                <a16:creationId xmlns:a16="http://schemas.microsoft.com/office/drawing/2014/main" id="{3FFD342A-34CE-B5E5-334C-67632F79B2DE}"/>
              </a:ext>
            </a:extLst>
          </p:cNvPr>
          <p:cNvSpPr>
            <a:spLocks noGrp="1"/>
          </p:cNvSpPr>
          <p:nvPr>
            <p:ph idx="1"/>
          </p:nvPr>
        </p:nvSpPr>
        <p:spPr/>
        <p:txBody>
          <a:bodyPr>
            <a:normAutofit/>
          </a:bodyPr>
          <a:lstStyle/>
          <a:p>
            <a:r>
              <a:rPr lang="en-US" dirty="0"/>
              <a:t>Overall, the business demonstrates solid sales performance and a strong repeat-customer base; however, declining recent sales, fluctuating returns, and uneven category and regional performance highlight the need for targeted marketing, improved customer acquisition, effective return management, and strategies to increase average order value and sustain long-term growth.</a:t>
            </a:r>
          </a:p>
        </p:txBody>
      </p:sp>
    </p:spTree>
    <p:extLst>
      <p:ext uri="{BB962C8B-B14F-4D97-AF65-F5344CB8AC3E}">
        <p14:creationId xmlns:p14="http://schemas.microsoft.com/office/powerpoint/2010/main" val="30120591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0A436F6-934F-4932-53F9-8457B0916AA8}"/>
              </a:ext>
            </a:extLst>
          </p:cNvPr>
          <p:cNvPicPr>
            <a:picLocks noChangeAspect="1"/>
          </p:cNvPicPr>
          <p:nvPr/>
        </p:nvPicPr>
        <p:blipFill>
          <a:blip r:embed="rId2"/>
          <a:stretch>
            <a:fillRect/>
          </a:stretch>
        </p:blipFill>
        <p:spPr>
          <a:xfrm>
            <a:off x="0" y="152400"/>
            <a:ext cx="12192000" cy="6553200"/>
          </a:xfrm>
          <a:prstGeom prst="rect">
            <a:avLst/>
          </a:prstGeom>
        </p:spPr>
      </p:pic>
    </p:spTree>
    <p:extLst>
      <p:ext uri="{BB962C8B-B14F-4D97-AF65-F5344CB8AC3E}">
        <p14:creationId xmlns:p14="http://schemas.microsoft.com/office/powerpoint/2010/main" val="25924510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843BD-2748-66A9-8A04-11A94495AA3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699F844-41FA-2446-B0AA-D887632E5B2D}"/>
              </a:ext>
            </a:extLst>
          </p:cNvPr>
          <p:cNvPicPr>
            <a:picLocks noChangeAspect="1"/>
          </p:cNvPicPr>
          <p:nvPr/>
        </p:nvPicPr>
        <p:blipFill>
          <a:blip r:embed="rId2"/>
          <a:stretch>
            <a:fillRect/>
          </a:stretch>
        </p:blipFill>
        <p:spPr>
          <a:xfrm>
            <a:off x="0" y="152400"/>
            <a:ext cx="12192000" cy="6553200"/>
          </a:xfrm>
          <a:prstGeom prst="rect">
            <a:avLst/>
          </a:prstGeom>
        </p:spPr>
      </p:pic>
    </p:spTree>
    <p:extLst>
      <p:ext uri="{BB962C8B-B14F-4D97-AF65-F5344CB8AC3E}">
        <p14:creationId xmlns:p14="http://schemas.microsoft.com/office/powerpoint/2010/main" val="19308572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E13183E-FE2F-EB35-BFED-08D7E54CB3B7}"/>
              </a:ext>
            </a:extLst>
          </p:cNvPr>
          <p:cNvPicPr>
            <a:picLocks noChangeAspect="1"/>
          </p:cNvPicPr>
          <p:nvPr/>
        </p:nvPicPr>
        <p:blipFill>
          <a:blip r:embed="rId2"/>
          <a:stretch>
            <a:fillRect/>
          </a:stretch>
        </p:blipFill>
        <p:spPr>
          <a:xfrm>
            <a:off x="0" y="152400"/>
            <a:ext cx="12192000" cy="6553200"/>
          </a:xfrm>
          <a:prstGeom prst="rect">
            <a:avLst/>
          </a:prstGeom>
        </p:spPr>
      </p:pic>
    </p:spTree>
    <p:extLst>
      <p:ext uri="{BB962C8B-B14F-4D97-AF65-F5344CB8AC3E}">
        <p14:creationId xmlns:p14="http://schemas.microsoft.com/office/powerpoint/2010/main" val="22921944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9CF64-AABF-89C3-A917-09898B9C62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D00917-0C6F-4DCB-A64D-4A278A74D285}"/>
              </a:ext>
            </a:extLst>
          </p:cNvPr>
          <p:cNvSpPr>
            <a:spLocks noGrp="1"/>
          </p:cNvSpPr>
          <p:nvPr>
            <p:ph type="title"/>
          </p:nvPr>
        </p:nvSpPr>
        <p:spPr/>
        <p:txBody>
          <a:bodyPr/>
          <a:lstStyle/>
          <a:p>
            <a:r>
              <a:rPr lang="en-PH" dirty="0"/>
              <a:t>About This Dashboard</a:t>
            </a:r>
            <a:endParaRPr lang="en-US" dirty="0"/>
          </a:p>
        </p:txBody>
      </p:sp>
      <p:sp>
        <p:nvSpPr>
          <p:cNvPr id="3" name="Content Placeholder 2">
            <a:extLst>
              <a:ext uri="{FF2B5EF4-FFF2-40B4-BE49-F238E27FC236}">
                <a16:creationId xmlns:a16="http://schemas.microsoft.com/office/drawing/2014/main" id="{3BEA4886-C411-759F-5225-4916F3632943}"/>
              </a:ext>
            </a:extLst>
          </p:cNvPr>
          <p:cNvSpPr>
            <a:spLocks noGrp="1"/>
          </p:cNvSpPr>
          <p:nvPr>
            <p:ph idx="1"/>
          </p:nvPr>
        </p:nvSpPr>
        <p:spPr/>
        <p:txBody>
          <a:bodyPr>
            <a:normAutofit/>
          </a:bodyPr>
          <a:lstStyle/>
          <a:p>
            <a:r>
              <a:rPr lang="en-US" dirty="0"/>
              <a:t>This dashboard uses the original retail CSV files.</a:t>
            </a:r>
          </a:p>
          <a:p>
            <a:r>
              <a:rPr lang="en-US" dirty="0"/>
              <a:t>The application performs basic cleaning before analysis:</a:t>
            </a:r>
          </a:p>
          <a:p>
            <a:pPr lvl="1"/>
            <a:r>
              <a:rPr lang="en-US" dirty="0"/>
              <a:t>removes exact duplicate records</a:t>
            </a:r>
          </a:p>
          <a:p>
            <a:pPr lvl="1"/>
            <a:r>
              <a:rPr lang="en-US" dirty="0"/>
              <a:t>standardizes product categories</a:t>
            </a:r>
          </a:p>
          <a:p>
            <a:pPr lvl="1"/>
            <a:r>
              <a:rPr lang="en-US" dirty="0"/>
              <a:t>converts unit prices to numeric values</a:t>
            </a:r>
          </a:p>
          <a:p>
            <a:pPr lvl="1"/>
            <a:r>
              <a:rPr lang="en-US" dirty="0"/>
              <a:t>removes zero or negative quantities</a:t>
            </a:r>
          </a:p>
          <a:p>
            <a:pPr lvl="1"/>
            <a:r>
              <a:rPr lang="en-US" dirty="0"/>
              <a:t>parses mixed order-date formats</a:t>
            </a:r>
          </a:p>
          <a:p>
            <a:pPr lvl="1"/>
            <a:r>
              <a:rPr lang="en-US" dirty="0"/>
              <a:t>fills missing discounts with zero</a:t>
            </a:r>
          </a:p>
          <a:p>
            <a:pPr lvl="1"/>
            <a:r>
              <a:rPr lang="en-US" dirty="0"/>
              <a:t>validates customer, order, and product references</a:t>
            </a:r>
          </a:p>
          <a:p>
            <a:pPr lvl="1"/>
            <a:r>
              <a:rPr lang="en-US" dirty="0"/>
              <a:t>keeps completed and shipped orders for sales analysis</a:t>
            </a:r>
          </a:p>
        </p:txBody>
      </p:sp>
    </p:spTree>
    <p:extLst>
      <p:ext uri="{BB962C8B-B14F-4D97-AF65-F5344CB8AC3E}">
        <p14:creationId xmlns:p14="http://schemas.microsoft.com/office/powerpoint/2010/main" val="18126341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49B33-BF65-4CD0-CDDD-8BC26BD8A7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E6DEF1-DFAB-BE16-657D-A3F71ECD7E95}"/>
              </a:ext>
            </a:extLst>
          </p:cNvPr>
          <p:cNvSpPr>
            <a:spLocks noGrp="1"/>
          </p:cNvSpPr>
          <p:nvPr>
            <p:ph type="title"/>
          </p:nvPr>
        </p:nvSpPr>
        <p:spPr/>
        <p:txBody>
          <a:bodyPr/>
          <a:lstStyle/>
          <a:p>
            <a:r>
              <a:rPr lang="en-PH" dirty="0"/>
              <a:t>About This Dashboard</a:t>
            </a:r>
            <a:endParaRPr lang="en-US" dirty="0"/>
          </a:p>
        </p:txBody>
      </p:sp>
      <p:sp>
        <p:nvSpPr>
          <p:cNvPr id="3" name="Content Placeholder 2">
            <a:extLst>
              <a:ext uri="{FF2B5EF4-FFF2-40B4-BE49-F238E27FC236}">
                <a16:creationId xmlns:a16="http://schemas.microsoft.com/office/drawing/2014/main" id="{7B2849E3-09AB-007E-66C0-B16A431CF81E}"/>
              </a:ext>
            </a:extLst>
          </p:cNvPr>
          <p:cNvSpPr>
            <a:spLocks noGrp="1"/>
          </p:cNvSpPr>
          <p:nvPr>
            <p:ph idx="1"/>
          </p:nvPr>
        </p:nvSpPr>
        <p:spPr/>
        <p:txBody>
          <a:bodyPr>
            <a:normAutofit/>
          </a:bodyPr>
          <a:lstStyle/>
          <a:p>
            <a:r>
              <a:rPr lang="en-US" dirty="0"/>
              <a:t>Gross Sales = Quantity × Unit Price</a:t>
            </a:r>
          </a:p>
          <a:p>
            <a:r>
              <a:rPr lang="en-US" dirty="0"/>
              <a:t>Net Sales = Gross Sales × (1 − Discount Percentage)</a:t>
            </a:r>
          </a:p>
          <a:p>
            <a:r>
              <a:rPr lang="en-US" dirty="0"/>
              <a:t>The average order value is calculated at the order level, not at the order-item level.</a:t>
            </a:r>
          </a:p>
          <a:p>
            <a:r>
              <a:rPr lang="en-US" dirty="0"/>
              <a:t>Filtered item rows: 27,077</a:t>
            </a:r>
          </a:p>
          <a:p>
            <a:r>
              <a:rPr lang="en-US" dirty="0"/>
              <a:t>Filtered unique orders: 11,439</a:t>
            </a:r>
          </a:p>
        </p:txBody>
      </p:sp>
    </p:spTree>
    <p:extLst>
      <p:ext uri="{BB962C8B-B14F-4D97-AF65-F5344CB8AC3E}">
        <p14:creationId xmlns:p14="http://schemas.microsoft.com/office/powerpoint/2010/main" val="7816060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62224-0773-6E48-99AA-C257856B8D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599889-5B9D-2F2E-CFD8-6D1B7446A387}"/>
              </a:ext>
            </a:extLst>
          </p:cNvPr>
          <p:cNvSpPr>
            <a:spLocks noGrp="1"/>
          </p:cNvSpPr>
          <p:nvPr>
            <p:ph type="title"/>
          </p:nvPr>
        </p:nvSpPr>
        <p:spPr/>
        <p:txBody>
          <a:bodyPr/>
          <a:lstStyle/>
          <a:p>
            <a:r>
              <a:rPr lang="en-PH" dirty="0"/>
              <a:t>Capstone Project</a:t>
            </a:r>
            <a:endParaRPr lang="en-US" dirty="0"/>
          </a:p>
        </p:txBody>
      </p:sp>
      <p:sp>
        <p:nvSpPr>
          <p:cNvPr id="3" name="Content Placeholder 2">
            <a:extLst>
              <a:ext uri="{FF2B5EF4-FFF2-40B4-BE49-F238E27FC236}">
                <a16:creationId xmlns:a16="http://schemas.microsoft.com/office/drawing/2014/main" id="{48081018-FAC2-941F-6B58-BC76EA631852}"/>
              </a:ext>
            </a:extLst>
          </p:cNvPr>
          <p:cNvSpPr>
            <a:spLocks noGrp="1"/>
          </p:cNvSpPr>
          <p:nvPr>
            <p:ph idx="1"/>
          </p:nvPr>
        </p:nvSpPr>
        <p:spPr/>
        <p:txBody>
          <a:bodyPr>
            <a:normAutofit/>
          </a:bodyPr>
          <a:lstStyle/>
          <a:p>
            <a:r>
              <a:rPr lang="en-US" dirty="0"/>
              <a:t>app.py</a:t>
            </a:r>
          </a:p>
          <a:p>
            <a:r>
              <a:rPr lang="en-US" dirty="0"/>
              <a:t>app.txt</a:t>
            </a:r>
          </a:p>
          <a:p>
            <a:r>
              <a:rPr lang="en-US" dirty="0"/>
              <a:t>Day01_Python.ipynb</a:t>
            </a:r>
          </a:p>
          <a:p>
            <a:r>
              <a:rPr lang="en-US" dirty="0"/>
              <a:t>Day02_Python.ipynb</a:t>
            </a:r>
          </a:p>
          <a:p>
            <a:r>
              <a:rPr lang="en-US" dirty="0"/>
              <a:t>Day03_Python.ipynb</a:t>
            </a:r>
          </a:p>
          <a:p>
            <a:r>
              <a:rPr lang="en-US" dirty="0"/>
              <a:t>Day04_Python.ipynb</a:t>
            </a:r>
          </a:p>
          <a:p>
            <a:r>
              <a:rPr lang="en-US" dirty="0"/>
              <a:t>Day05_Python.ipynb</a:t>
            </a:r>
          </a:p>
          <a:p>
            <a:r>
              <a:rPr lang="en-US" dirty="0"/>
              <a:t>Days01–06_Python.ipynb</a:t>
            </a:r>
          </a:p>
        </p:txBody>
      </p:sp>
    </p:spTree>
    <p:extLst>
      <p:ext uri="{BB962C8B-B14F-4D97-AF65-F5344CB8AC3E}">
        <p14:creationId xmlns:p14="http://schemas.microsoft.com/office/powerpoint/2010/main" val="29888077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EB08D-A73F-40A1-A1A8-D9BCA0F382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155268-3DC1-63C4-9207-5609CDADD977}"/>
              </a:ext>
            </a:extLst>
          </p:cNvPr>
          <p:cNvSpPr>
            <a:spLocks noGrp="1"/>
          </p:cNvSpPr>
          <p:nvPr>
            <p:ph type="title"/>
          </p:nvPr>
        </p:nvSpPr>
        <p:spPr/>
        <p:txBody>
          <a:bodyPr/>
          <a:lstStyle/>
          <a:p>
            <a:r>
              <a:rPr lang="en-PH" dirty="0"/>
              <a:t>Capstone Project</a:t>
            </a:r>
            <a:endParaRPr lang="en-US" dirty="0"/>
          </a:p>
        </p:txBody>
      </p:sp>
      <p:sp>
        <p:nvSpPr>
          <p:cNvPr id="3" name="Content Placeholder 2">
            <a:extLst>
              <a:ext uri="{FF2B5EF4-FFF2-40B4-BE49-F238E27FC236}">
                <a16:creationId xmlns:a16="http://schemas.microsoft.com/office/drawing/2014/main" id="{0FF55795-8996-284A-D136-00ECCC38A6A3}"/>
              </a:ext>
            </a:extLst>
          </p:cNvPr>
          <p:cNvSpPr>
            <a:spLocks noGrp="1"/>
          </p:cNvSpPr>
          <p:nvPr>
            <p:ph idx="1"/>
          </p:nvPr>
        </p:nvSpPr>
        <p:spPr/>
        <p:txBody>
          <a:bodyPr>
            <a:normAutofit fontScale="62500" lnSpcReduction="20000"/>
          </a:bodyPr>
          <a:lstStyle/>
          <a:p>
            <a:r>
              <a:rPr lang="en-US" dirty="0"/>
              <a:t>_order_summary_day5.csv</a:t>
            </a:r>
          </a:p>
          <a:p>
            <a:r>
              <a:rPr lang="en-US" dirty="0"/>
              <a:t>_sales_analysis_day5.csv</a:t>
            </a:r>
          </a:p>
          <a:p>
            <a:r>
              <a:rPr lang="en-US" dirty="0"/>
              <a:t>customers.csv</a:t>
            </a:r>
          </a:p>
          <a:p>
            <a:r>
              <a:rPr lang="en-US" dirty="0"/>
              <a:t>customers_clean.csv</a:t>
            </a:r>
          </a:p>
          <a:p>
            <a:r>
              <a:rPr lang="en-US" dirty="0"/>
              <a:t>order_items.csv</a:t>
            </a:r>
          </a:p>
          <a:p>
            <a:r>
              <a:rPr lang="en-US" dirty="0"/>
              <a:t>orders.csv</a:t>
            </a:r>
          </a:p>
          <a:p>
            <a:r>
              <a:rPr lang="en-US" dirty="0"/>
              <a:t>orders_clean.csv</a:t>
            </a:r>
          </a:p>
          <a:p>
            <a:r>
              <a:rPr lang="en-US" dirty="0"/>
              <a:t>payments.csv</a:t>
            </a:r>
          </a:p>
          <a:p>
            <a:r>
              <a:rPr lang="en-US" dirty="0"/>
              <a:t>products.csv</a:t>
            </a:r>
          </a:p>
          <a:p>
            <a:r>
              <a:rPr lang="en-US" dirty="0"/>
              <a:t>products_clean.csv</a:t>
            </a:r>
          </a:p>
          <a:p>
            <a:r>
              <a:rPr lang="en-US" dirty="0"/>
              <a:t>returns.csv</a:t>
            </a:r>
          </a:p>
          <a:p>
            <a:r>
              <a:rPr lang="en-US" dirty="0"/>
              <a:t>sales_analysis.csv</a:t>
            </a:r>
          </a:p>
          <a:p>
            <a:r>
              <a:rPr lang="en-US" dirty="0"/>
              <a:t>shipments.csv</a:t>
            </a:r>
          </a:p>
        </p:txBody>
      </p:sp>
    </p:spTree>
    <p:extLst>
      <p:ext uri="{BB962C8B-B14F-4D97-AF65-F5344CB8AC3E}">
        <p14:creationId xmlns:p14="http://schemas.microsoft.com/office/powerpoint/2010/main" val="42900635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34E72-5500-E902-E18A-F91C0172A6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47D555-7675-34C2-0765-BCC464A6EA88}"/>
              </a:ext>
            </a:extLst>
          </p:cNvPr>
          <p:cNvSpPr>
            <a:spLocks noGrp="1"/>
          </p:cNvSpPr>
          <p:nvPr>
            <p:ph type="title"/>
          </p:nvPr>
        </p:nvSpPr>
        <p:spPr/>
        <p:txBody>
          <a:bodyPr/>
          <a:lstStyle/>
          <a:p>
            <a:r>
              <a:rPr lang="en-PH" dirty="0"/>
              <a:t>Capstone Project</a:t>
            </a:r>
            <a:endParaRPr lang="en-US" dirty="0"/>
          </a:p>
        </p:txBody>
      </p:sp>
      <p:sp>
        <p:nvSpPr>
          <p:cNvPr id="3" name="Content Placeholder 2">
            <a:extLst>
              <a:ext uri="{FF2B5EF4-FFF2-40B4-BE49-F238E27FC236}">
                <a16:creationId xmlns:a16="http://schemas.microsoft.com/office/drawing/2014/main" id="{B61ACB45-5C33-DD11-E405-B02C480CD4DD}"/>
              </a:ext>
            </a:extLst>
          </p:cNvPr>
          <p:cNvSpPr>
            <a:spLocks noGrp="1"/>
          </p:cNvSpPr>
          <p:nvPr>
            <p:ph idx="1"/>
          </p:nvPr>
        </p:nvSpPr>
        <p:spPr/>
        <p:txBody>
          <a:bodyPr>
            <a:normAutofit/>
          </a:bodyPr>
          <a:lstStyle/>
          <a:p>
            <a:r>
              <a:rPr lang="en-US" dirty="0"/>
              <a:t>-gross-sales-by-product-category.png</a:t>
            </a:r>
          </a:p>
          <a:p>
            <a:r>
              <a:rPr lang="en-US" dirty="0"/>
              <a:t>gross-sales-by-region.png</a:t>
            </a:r>
          </a:p>
          <a:p>
            <a:r>
              <a:rPr lang="en-US" dirty="0"/>
              <a:t>gross-sales-by-sales-channel.png</a:t>
            </a:r>
          </a:p>
          <a:p>
            <a:r>
              <a:rPr lang="en-US" dirty="0"/>
              <a:t>monthly-gross-sales.png</a:t>
            </a:r>
          </a:p>
          <a:p>
            <a:r>
              <a:rPr lang="en-US" dirty="0"/>
              <a:t>monthly-return-count.png</a:t>
            </a:r>
          </a:p>
          <a:p>
            <a:r>
              <a:rPr lang="en-US" dirty="0"/>
              <a:t>order-value-distribution.png</a:t>
            </a:r>
          </a:p>
          <a:p>
            <a:r>
              <a:rPr lang="en-US" dirty="0"/>
              <a:t>top-10-products-by-gross-sales.png</a:t>
            </a:r>
          </a:p>
        </p:txBody>
      </p:sp>
    </p:spTree>
    <p:extLst>
      <p:ext uri="{BB962C8B-B14F-4D97-AF65-F5344CB8AC3E}">
        <p14:creationId xmlns:p14="http://schemas.microsoft.com/office/powerpoint/2010/main" val="36280172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136A4-06F6-DB35-30E4-4FFB0CC86B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7DC3D0-B0BC-4CDF-0D1C-A6A888E9F0C6}"/>
              </a:ext>
            </a:extLst>
          </p:cNvPr>
          <p:cNvSpPr>
            <a:spLocks noGrp="1"/>
          </p:cNvSpPr>
          <p:nvPr>
            <p:ph type="title"/>
          </p:nvPr>
        </p:nvSpPr>
        <p:spPr/>
        <p:txBody>
          <a:bodyPr/>
          <a:lstStyle/>
          <a:p>
            <a:r>
              <a:rPr lang="en-PH" dirty="0"/>
              <a:t>Capstone Project</a:t>
            </a:r>
            <a:endParaRPr lang="en-US" dirty="0"/>
          </a:p>
        </p:txBody>
      </p:sp>
      <p:sp>
        <p:nvSpPr>
          <p:cNvPr id="3" name="Content Placeholder 2">
            <a:extLst>
              <a:ext uri="{FF2B5EF4-FFF2-40B4-BE49-F238E27FC236}">
                <a16:creationId xmlns:a16="http://schemas.microsoft.com/office/drawing/2014/main" id="{100D9E15-F297-DFD4-368E-9B9621C88066}"/>
              </a:ext>
            </a:extLst>
          </p:cNvPr>
          <p:cNvSpPr>
            <a:spLocks noGrp="1"/>
          </p:cNvSpPr>
          <p:nvPr>
            <p:ph idx="1"/>
          </p:nvPr>
        </p:nvSpPr>
        <p:spPr/>
        <p:txBody>
          <a:bodyPr>
            <a:normAutofit/>
          </a:bodyPr>
          <a:lstStyle/>
          <a:p>
            <a:pPr marL="0" indent="0">
              <a:buNone/>
            </a:pPr>
            <a:r>
              <a:rPr lang="en-US" dirty="0"/>
              <a:t>GitHub Repository Link:</a:t>
            </a:r>
          </a:p>
          <a:p>
            <a:pPr marL="0" indent="0">
              <a:buNone/>
            </a:pPr>
            <a:r>
              <a:rPr lang="en-US" dirty="0"/>
              <a:t>https://github.com/allyster-endozo/DSA_Python</a:t>
            </a:r>
          </a:p>
          <a:p>
            <a:endParaRPr lang="en-US" dirty="0"/>
          </a:p>
        </p:txBody>
      </p:sp>
    </p:spTree>
    <p:extLst>
      <p:ext uri="{BB962C8B-B14F-4D97-AF65-F5344CB8AC3E}">
        <p14:creationId xmlns:p14="http://schemas.microsoft.com/office/powerpoint/2010/main" val="2631932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TotalTime>
  <Words>1051</Words>
  <Application>Microsoft Office PowerPoint</Application>
  <PresentationFormat>Widescreen</PresentationFormat>
  <Paragraphs>89</Paragraphs>
  <Slides>28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Aptos</vt:lpstr>
      <vt:lpstr>Aptos Display</vt:lpstr>
      <vt:lpstr>Arial</vt:lpstr>
      <vt:lpstr>Office Theme</vt:lpstr>
      <vt:lpstr>PowerPoint Presentation</vt:lpstr>
      <vt:lpstr>Key Performance Indicators</vt:lpstr>
      <vt:lpstr>PowerPoint Presentation</vt:lpstr>
      <vt:lpstr>Insights and Recommendations</vt:lpstr>
      <vt:lpstr>PowerPoint Presentation</vt:lpstr>
      <vt:lpstr>Insights and Recommendations</vt:lpstr>
      <vt:lpstr>PowerPoint Presentation</vt:lpstr>
      <vt:lpstr>Insights and Recommendations</vt:lpstr>
      <vt:lpstr>PowerPoint Presentation</vt:lpstr>
      <vt:lpstr>Insights and Recommendations</vt:lpstr>
      <vt:lpstr>PowerPoint Presentation</vt:lpstr>
      <vt:lpstr>Insights and Recommendations</vt:lpstr>
      <vt:lpstr>PowerPoint Presentation</vt:lpstr>
      <vt:lpstr>Insights and Recommendations</vt:lpstr>
      <vt:lpstr>PowerPoint Presentation</vt:lpstr>
      <vt:lpstr>Insights and Recommendations</vt:lpstr>
      <vt:lpstr>Summary and Conclusions</vt:lpstr>
      <vt:lpstr>Summary and Conclusions</vt:lpstr>
      <vt:lpstr>Summary and Conclusions</vt:lpstr>
      <vt:lpstr>PowerPoint Presentation</vt:lpstr>
      <vt:lpstr>PowerPoint Presentation</vt:lpstr>
      <vt:lpstr>PowerPoint Presentation</vt:lpstr>
      <vt:lpstr>About This Dashboard</vt:lpstr>
      <vt:lpstr>About This Dashboard</vt:lpstr>
      <vt:lpstr>Capstone Project</vt:lpstr>
      <vt:lpstr>Capstone Project</vt:lpstr>
      <vt:lpstr>Capstone Project</vt:lpstr>
      <vt:lpstr>Capstone Project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STII CRPD 1</dc:creator>
  <cp:lastModifiedBy>Allyster Endozo</cp:lastModifiedBy>
  <cp:revision>23</cp:revision>
  <dcterms:created xsi:type="dcterms:W3CDTF">2026-10-28T09:56:57Z</dcterms:created>
  <dcterms:modified xsi:type="dcterms:W3CDTF">2026-10-28T16:21:07Z</dcterms:modified>
</cp:coreProperties>
</file>